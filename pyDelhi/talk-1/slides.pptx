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Average"/>
      <p:regular r:id="rId40"/>
    </p:embeddedFont>
    <p:embeddedFont>
      <p:font typeface="Oswald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verage-regular.fntdata"/><Relationship Id="rId20" Type="http://schemas.openxmlformats.org/officeDocument/2006/relationships/slide" Target="slides/slide14.xml"/><Relationship Id="rId42" Type="http://schemas.openxmlformats.org/officeDocument/2006/relationships/font" Target="fonts/Oswald-bold.fntdata"/><Relationship Id="rId41" Type="http://schemas.openxmlformats.org/officeDocument/2006/relationships/font" Target="fonts/Oswald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PlayfairDisplay-bold.fntdata"/><Relationship Id="rId10" Type="http://schemas.openxmlformats.org/officeDocument/2006/relationships/slide" Target="slides/slide4.xml"/><Relationship Id="rId32" Type="http://schemas.openxmlformats.org/officeDocument/2006/relationships/font" Target="fonts/PlayfairDisplay-regular.fntdata"/><Relationship Id="rId13" Type="http://schemas.openxmlformats.org/officeDocument/2006/relationships/slide" Target="slides/slide7.xml"/><Relationship Id="rId35" Type="http://schemas.openxmlformats.org/officeDocument/2006/relationships/font" Target="fonts/PlayfairDisplay-boldItalic.fntdata"/><Relationship Id="rId12" Type="http://schemas.openxmlformats.org/officeDocument/2006/relationships/slide" Target="slides/slide6.xml"/><Relationship Id="rId34" Type="http://schemas.openxmlformats.org/officeDocument/2006/relationships/font" Target="fonts/PlayfairDisplay-italic.fntdata"/><Relationship Id="rId15" Type="http://schemas.openxmlformats.org/officeDocument/2006/relationships/slide" Target="slides/slide9.xml"/><Relationship Id="rId37" Type="http://schemas.openxmlformats.org/officeDocument/2006/relationships/font" Target="fonts/Lato-bold.fntdata"/><Relationship Id="rId14" Type="http://schemas.openxmlformats.org/officeDocument/2006/relationships/slide" Target="slides/slide8.xml"/><Relationship Id="rId36" Type="http://schemas.openxmlformats.org/officeDocument/2006/relationships/font" Target="fonts/Lato-regular.fntdata"/><Relationship Id="rId17" Type="http://schemas.openxmlformats.org/officeDocument/2006/relationships/slide" Target="slides/slide11.xml"/><Relationship Id="rId39" Type="http://schemas.openxmlformats.org/officeDocument/2006/relationships/font" Target="fonts/Lato-boldItalic.fntdata"/><Relationship Id="rId16" Type="http://schemas.openxmlformats.org/officeDocument/2006/relationships/slide" Target="slides/slide10.xml"/><Relationship Id="rId38" Type="http://schemas.openxmlformats.org/officeDocument/2006/relationships/font" Target="fonts/La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cd4ca396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cd4ca396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7cd4ca396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7cd4ca396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cd4ca396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cd4ca396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cd4ca396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cd4ca396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7cd4ca396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7cd4ca396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7cd4ca396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7cd4ca396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cd4ca3968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cd4ca3968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7cd4ca3968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7cd4ca3968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7cd4ca396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7cd4ca396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7cd4ca396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7cd4ca396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cd4ca396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cd4ca396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7cd4ca396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7cd4ca396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cd4ca3968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7cd4ca3968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7cd4ca3968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7cd4ca3968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cd4ca3968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cd4ca3968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cd4ca3968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cd4ca3968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7cd4ca3968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7cd4ca3968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7cd4ca3968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7cd4ca3968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7cd4ca3968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7cd4ca3968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772adc25876e55f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772adc25876e55f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21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7" name="Google Shape;97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3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875" y="2044125"/>
            <a:ext cx="1475375" cy="158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1625" y="1952525"/>
            <a:ext cx="1580751" cy="158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5"/>
          <p:cNvPicPr preferRelativeResize="0"/>
          <p:nvPr/>
        </p:nvPicPr>
        <p:blipFill>
          <a:blip r:embed="rId5">
            <a:alphaModFix amt="74000"/>
          </a:blip>
          <a:stretch>
            <a:fillRect/>
          </a:stretch>
        </p:blipFill>
        <p:spPr>
          <a:xfrm rot="10800000">
            <a:off x="6431274" y="1731899"/>
            <a:ext cx="2022001" cy="202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311700" y="445025"/>
            <a:ext cx="354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Before we start...</a:t>
            </a:r>
            <a:endParaRPr>
              <a:solidFill>
                <a:srgbClr val="00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3242700" y="2108100"/>
            <a:ext cx="26586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ML who?</a:t>
            </a:r>
            <a:endParaRPr sz="48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250" y="3844750"/>
            <a:ext cx="1298750" cy="12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/>
        </p:nvSpPr>
        <p:spPr>
          <a:xfrm>
            <a:off x="3526800" y="2073900"/>
            <a:ext cx="20904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Types...</a:t>
            </a:r>
            <a:endParaRPr sz="4800">
              <a:solidFill>
                <a:srgbClr val="00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4" name="Google Shape;134;p29"/>
          <p:cNvSpPr txBox="1"/>
          <p:nvPr/>
        </p:nvSpPr>
        <p:spPr>
          <a:xfrm>
            <a:off x="395025" y="345625"/>
            <a:ext cx="29544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FF"/>
                </a:solidFill>
                <a:latin typeface="Average"/>
                <a:ea typeface="Average"/>
                <a:cs typeface="Average"/>
                <a:sym typeface="Average"/>
              </a:rPr>
              <a:t>Supervised learning</a:t>
            </a:r>
            <a:endParaRPr sz="2400">
              <a:solidFill>
                <a:srgbClr val="FF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863" y="2073900"/>
            <a:ext cx="2190175" cy="121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9"/>
          <p:cNvSpPr txBox="1"/>
          <p:nvPr/>
        </p:nvSpPr>
        <p:spPr>
          <a:xfrm>
            <a:off x="5617200" y="415750"/>
            <a:ext cx="31566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FF"/>
                </a:solidFill>
                <a:latin typeface="Average"/>
                <a:ea typeface="Average"/>
                <a:cs typeface="Average"/>
                <a:sym typeface="Average"/>
              </a:rPr>
              <a:t>Unsupervised learning</a:t>
            </a:r>
            <a:endParaRPr sz="2400">
              <a:solidFill>
                <a:srgbClr val="FF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37" name="Google Shape;137;p29"/>
          <p:cNvPicPr preferRelativeResize="0"/>
          <p:nvPr/>
        </p:nvPicPr>
        <p:blipFill rotWithShape="1">
          <a:blip r:embed="rId4">
            <a:alphaModFix/>
          </a:blip>
          <a:srcRect b="0" l="0" r="46486" t="0"/>
          <a:stretch/>
        </p:blipFill>
        <p:spPr>
          <a:xfrm>
            <a:off x="6258944" y="1687200"/>
            <a:ext cx="2023801" cy="17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9"/>
          <p:cNvSpPr txBox="1"/>
          <p:nvPr/>
        </p:nvSpPr>
        <p:spPr>
          <a:xfrm>
            <a:off x="312750" y="4238275"/>
            <a:ext cx="2954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verage"/>
              <a:buChar char="-"/>
            </a:pPr>
            <a:r>
              <a:rPr lang="en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Will need labeled data</a:t>
            </a:r>
            <a:endParaRPr>
              <a:solidFill>
                <a:srgbClr val="FF99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9" name="Google Shape;139;p29"/>
          <p:cNvSpPr txBox="1"/>
          <p:nvPr/>
        </p:nvSpPr>
        <p:spPr>
          <a:xfrm>
            <a:off x="5718300" y="4238275"/>
            <a:ext cx="2954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verage"/>
              <a:buChar char="-"/>
            </a:pPr>
            <a:r>
              <a:rPr lang="en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Can work with</a:t>
            </a:r>
            <a:r>
              <a:rPr lang="en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 unlabeled data</a:t>
            </a:r>
            <a:endParaRPr>
              <a:solidFill>
                <a:srgbClr val="FF99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/>
        </p:nvSpPr>
        <p:spPr>
          <a:xfrm>
            <a:off x="1860300" y="2115000"/>
            <a:ext cx="54234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K-Means </a:t>
            </a:r>
            <a:r>
              <a:rPr lang="en" sz="4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Clustering</a:t>
            </a:r>
            <a:endParaRPr sz="4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5" name="Google Shape;145;p30"/>
          <p:cNvSpPr txBox="1"/>
          <p:nvPr/>
        </p:nvSpPr>
        <p:spPr>
          <a:xfrm>
            <a:off x="279825" y="213975"/>
            <a:ext cx="4090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Probably the easiest of all...</a:t>
            </a:r>
            <a:endParaRPr sz="2400">
              <a:solidFill>
                <a:srgbClr val="FF99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31"/>
          <p:cNvCxnSpPr/>
          <p:nvPr/>
        </p:nvCxnSpPr>
        <p:spPr>
          <a:xfrm>
            <a:off x="3209550" y="2666400"/>
            <a:ext cx="576000" cy="987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31"/>
          <p:cNvCxnSpPr/>
          <p:nvPr/>
        </p:nvCxnSpPr>
        <p:spPr>
          <a:xfrm flipH="1">
            <a:off x="4065350" y="2403050"/>
            <a:ext cx="1061700" cy="3786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dot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/>
        </p:nvSpPr>
        <p:spPr>
          <a:xfrm>
            <a:off x="2505900" y="2233350"/>
            <a:ext cx="41322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A simplified perspective</a:t>
            </a:r>
            <a:endParaRPr sz="30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/>
          <p:nvPr/>
        </p:nvSpPr>
        <p:spPr>
          <a:xfrm>
            <a:off x="3328050" y="2182500"/>
            <a:ext cx="24879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Data Points</a:t>
            </a:r>
            <a:endParaRPr sz="36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3925" y="3225100"/>
            <a:ext cx="2050075" cy="20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8"/>
          <p:cNvSpPr txBox="1"/>
          <p:nvPr/>
        </p:nvSpPr>
        <p:spPr>
          <a:xfrm>
            <a:off x="2387550" y="2233350"/>
            <a:ext cx="4368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Visualizing the TF graph</a:t>
            </a:r>
            <a:endParaRPr sz="3000">
              <a:solidFill>
                <a:srgbClr val="00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/>
        </p:nvSpPr>
        <p:spPr>
          <a:xfrm>
            <a:off x="2750550" y="2121600"/>
            <a:ext cx="36429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00FF"/>
                </a:solidFill>
                <a:latin typeface="Average"/>
                <a:ea typeface="Average"/>
                <a:cs typeface="Average"/>
                <a:sym typeface="Average"/>
              </a:rPr>
              <a:t>Broadcasting</a:t>
            </a:r>
            <a:endParaRPr sz="4800">
              <a:solidFill>
                <a:srgbClr val="FF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6475" y="-581875"/>
            <a:ext cx="9496950" cy="63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